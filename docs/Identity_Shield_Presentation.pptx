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Unauthorized acceptance rate (UAR)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UAR</c:v>
                </c:pt>
              </c:strCache>
            </c:strRef>
          </c:tx>
          <c:spPr>
            <a:solidFill>
              <a:srgbClr val="BCCDE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CCDE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AE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8FB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A: Credential only</c:v>
                  </c:pt>
                  <c:pt idx="1">
                    <c:v>B: + Face match</c:v>
                  </c:pt>
                  <c:pt idx="2">
                    <c:v>C: + Fingerprint match</c:v>
                  </c:pt>
                  <c:pt idx="3">
                    <c:v>D: Full Identity Shield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76.5</c:v>
                </c:pt>
                <c:pt idx="2">
                  <c:v>51.5</c:v>
                </c:pt>
                <c:pt idx="3">
                  <c:v>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1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6"/>
                    </a:solidFill>
                    <a:latin typeface="Arial"/>
                  </a:rPr>
                  <a:t>UAR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Attack detection rate by category (System 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rgbClr val="6A8FB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A8FB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8F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8FB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Credential</c:v>
                  </c:pt>
                  <c:pt idx="1">
                    <c:v>Face</c:v>
                  </c:pt>
                  <c:pt idx="2">
                    <c:v>Fingerprint</c:v>
                  </c:pt>
                  <c:pt idx="3">
                    <c:v>Cross-modal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84</c:v>
                </c:pt>
                <c:pt idx="3">
                  <c:v>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1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6"/>
                    </a:solidFill>
                    <a:latin typeface="Arial"/>
                  </a:rPr>
                  <a:t>Detection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Arial"/>
              </a:rPr>
              <a:t>Security checks per attempt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5B67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7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ID + matching only</c:v>
                  </c:pt>
                  <c:pt idx="1">
                    <c:v>Identity Shield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3720" y="1234440"/>
            <a:ext cx="1737360" cy="1737360"/>
          </a:xfrm>
          <a:prstGeom prst="ellipse">
            <a:avLst/>
          </a:prstGeom>
          <a:solidFill>
            <a:srgbClr val="0B1F3A">
              <a:alpha val="0"/>
            </a:srgbClr>
          </a:solidFill>
          <a:ln w="19050">
            <a:solidFill>
              <a:srgbClr val="BBD3E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78040" y="1508760"/>
            <a:ext cx="1188720" cy="1188720"/>
          </a:xfrm>
          <a:prstGeom prst="ellipse">
            <a:avLst/>
          </a:prstGeom>
          <a:solidFill>
            <a:srgbClr val="0B1F3A">
              <a:alpha val="0"/>
            </a:srgbClr>
          </a:solidFill>
          <a:ln w="19050">
            <a:solidFill>
              <a:srgbClr val="BBD3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52360" y="1783080"/>
            <a:ext cx="640080" cy="640080"/>
          </a:xfrm>
          <a:prstGeom prst="ellipse">
            <a:avLst/>
          </a:prstGeom>
          <a:solidFill>
            <a:srgbClr val="0B1F3A">
              <a:alpha val="0"/>
            </a:srgbClr>
          </a:solidFill>
          <a:ln w="19050">
            <a:solidFill>
              <a:srgbClr val="BBD3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 |  RESEARCH PROTOTYPE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14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Shield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37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Aadhaar-Inspired Multi-Layer Defense Framework Against Biometric Identity Impersonation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DDE9F7"/>
          </a:solidFill>
          <a:ln w="12700">
            <a:solidFill>
              <a:srgbClr val="DDE9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329184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DDE9F7"/>
          </a:solidFill>
          <a:ln w="12700">
            <a:solidFill>
              <a:srgbClr val="DDE9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474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Mohnish Krishna – AV.SC.U4CSE23013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Pallapothu Moulika – AV.SC.U4CSE23036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Raghavendra Narayan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Aadhaar and the Digital Security Challenge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is India's 12-digit unique ID, linked to demographic data and biometrics: fingerprint, iris and 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banking, KYC, subsidies, SIM issuance and e-governance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means matching a fresh sample against stored records, at national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system holds the identity of over a billion residents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754880" y="10515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DIGITAL SECURITY PROBLEM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 cannot be reset like a password once stolen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697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or linkage attack exposes many identities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Spoofable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fingerprints, printed photos and deepfakes can impersonate a user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Aadhaar Authentication Works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02920" y="1005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789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 + fingerprint or face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20240" y="1353312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94560" y="1005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0789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device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biometric and encrypts 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11880" y="1353312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86200" y="1005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77640" y="10789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request to UIDAI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353312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005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0" y="10789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database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with enrolled template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95160" y="1353312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1005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10789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match result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GET 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1460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" y="2633472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Stolen ID and data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Aadhaar number and demographics from breaches or phishing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60320" y="251460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79192" y="2633472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Fake fingerprint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or gelatin copies made from lifted or stolen fingerprint images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51460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82312" y="2633472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Fake face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photo, screen replay or deepfake shown to the camera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66560" y="251460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85432" y="2633472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Database or replay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of the central store, or replay of captured biometric data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Shield defends attacks 1 to 3 at authentication time and stores credentials only as hashes.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Papers Used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 |  Aadhaar Security Survey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Debanjan Sadhya, Tanya Sahu. Computers &amp; Security, vol. 140, 2024. DOI 10.1016/j.cose.2024.103782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demographic and biometric data 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fake biometrics, cloning, breaches, linkage attacks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 of centralized biometric databases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only: proposes no executable 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 |  DeepFace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Taigman, Yang, Ranzato, Wolf. CVPR 2014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1945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detect, align, deep representation, classify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features beat hand-crafted features for verification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= comparing embeddings by distance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DeepFace library with the FaceNet model (Schroff et al., 2015)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turn the survey’s threats into a working, measurable defense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Aadhaar 2024 Survey: What We Implemented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 raised in the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biometrics and spoofing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and fingerprint PAD gates (Random Forest)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of identity numbers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stored only as SHA-256 hashes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single-factor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sequential hard-stop gates: ID, face, fingerprint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template linkage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tables for credentials, templates, demographics; synthetic data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 of attempts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attempt logged with gate results and attack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37673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the DeepFace paper (Gate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face becomes a 128-dimensional FaceNet embedding [3], computed through the DeepFace library [2]. Same person gives a small distance, different people a large one. Access continues only if the distance is below the model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Gap, Question and Hypothesis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reference paper [1]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447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and privacy survey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threats and preventive measures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broad Aadhaar ecosystem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Descriptive: no executable system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work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4447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prototype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attack simulation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fingerprint, 5 sequential gates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Quantitative, gate-wise evaluation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99008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a sequential multi-layer authentication architecture in preventing unauthorized access when a valid credential is combined with incorrect or presentation-attacked biometric evidence?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99008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credential verification, biometric matching and presentation-attack detection across face and fingerprint will reduce unauthorized acceptance compared with credential-only or single-biometric authentication in a controlled experiment.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and Synthetic Identity Creation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155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Faces: Biggest Gender/Face Recognition Dataset [5]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set of face images (men and women) used as enrolled and probe faces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63440" y="10058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1155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Fingerprints: SOCOFing [4]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real prints from 600 subjects plus 55,000+ altered copies, used as spoof samples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SYNTHETIC IDENTITY DATASET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77063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Label gender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Faces: pretrained FairFace-based gender classifier (label + confidence). Fingerprints: M/F from the SOCOFing filename.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22576" y="3337560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87752" y="26974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9192" y="277063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Pair biometrics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 and one fingerprint of the same gender per identity; faces renamed male_ / female_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53128" y="3337560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26974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9744" y="277063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Generate details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Indian name, age 18 to 80, gender and address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3337560"/>
            <a:ext cx="228600" cy="201168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48856" y="26974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0296" y="277063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Aadhaar-style ID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12-digit number, no digit repeated more than twice, stored as SHA-256 hash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aadhaar_dataset.csv, loaded into SQLite (hash, template paths, demographics).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5-Gate Pipeline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12-digit identity number + face image + fingerprint image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4708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3317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check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lookup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BLOCK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03120" y="17373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12848" y="184708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1284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12848" y="23317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face PAD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RGB histograms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BLOCK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49040" y="17373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58768" y="184708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5876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858768" y="23317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embeddings, 1:1 distance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BLOCK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17373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04688" y="184708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0468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04688" y="23317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PAD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grayscale stats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BLOCK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40880" y="1737360"/>
            <a:ext cx="1508760" cy="164592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50608" y="184708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5060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50608" y="23317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match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keypoints + BFMatcher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BLOCK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38404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DCF3EC"/>
          </a:solidFill>
          <a:ln w="12700">
            <a:solidFill>
              <a:srgbClr val="DCF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77840" y="38404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gates pass: a digital identity card is generated from the matched record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760720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BLOCKED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gate reported; every attempt logged in SQLite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Test Cases</a:t>
            </a:r>
            <a:endParaRPr lang="en-US" sz="2100" dirty="0"/>
          </a:p>
        </p:txBody>
      </p:sp>
      <p:pic>
        <p:nvPicPr>
          <p:cNvPr id="4" name="Image 1" descr="/mnt/user-data/uploads/178997638451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108960" cy="152339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560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Enter identity number</a:t>
            </a:r>
            <a:endParaRPr lang="en-US" sz="1050" dirty="0"/>
          </a:p>
        </p:txBody>
      </p:sp>
      <p:pic>
        <p:nvPicPr>
          <p:cNvPr id="6" name="Image 2" descr="/mnt/user-data/uploads/1789976406172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005840"/>
            <a:ext cx="3108960" cy="152339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703320" y="2560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Upload face</a:t>
            </a:r>
            <a:endParaRPr lang="en-US" sz="1050" dirty="0"/>
          </a:p>
        </p:txBody>
      </p:sp>
      <p:pic>
        <p:nvPicPr>
          <p:cNvPr id="8" name="Image 3" descr="/mnt/user-data/uploads/1789976443093_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3108960" cy="152339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5720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Upload fingerprint</a:t>
            </a:r>
            <a:endParaRPr lang="en-US" sz="1050" dirty="0"/>
          </a:p>
        </p:txBody>
      </p:sp>
      <p:pic>
        <p:nvPicPr>
          <p:cNvPr id="10" name="Image 4" descr="/mnt/user-data/uploads/1789976475570_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834640"/>
            <a:ext cx="3108960" cy="152339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370332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Result: identity verified</a:t>
            </a:r>
            <a:endParaRPr lang="en-US" sz="1050" dirty="0"/>
          </a:p>
        </p:txBody>
      </p:sp>
      <p:sp>
        <p:nvSpPr>
          <p:cNvPr id="12" name="Shape 5"/>
          <p:cNvSpPr/>
          <p:nvPr/>
        </p:nvSpPr>
        <p:spPr>
          <a:xfrm>
            <a:off x="7086600" y="1005840"/>
            <a:ext cx="1600200" cy="356616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7205472" y="1115568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(expected block point)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user: access granted (shown)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ID number: Gate 1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GAN face: Gate 2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person’s face: Gate 3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fingerprint: Gate 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person’s fingerprint: Gate 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Scenarios and Expected Outcomes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754880"/>
                <a:gridCol w="21031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block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ID, or one digit of a valid ID 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ID + another person’s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or fake face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ID + another person’s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Altered or latent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face + wrong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face + correct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face + wrong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 (fails early)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Heavily blurred target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 or Gate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bypass: backend enforces the order, missing input is blocked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user, all inputs 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granted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by design. Measured results to be added after the test suite is executed.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vs Fake Detection: Models Used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5603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Credential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(hashlib)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12-digit ID to 64-char 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/ INVALID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Face PAD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(100 trees, depth 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96-dim RGB histogram, 128x128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/ SPOOF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Face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FaceNet via DeepFace [2,3]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128-dim embedding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/ NON_MATCH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Fingerprint PAD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(100 trees, depth 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34-dim histogram + mean + std, 96x96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/ SPOOF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Fingerprint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+ BFMatcher (Hamming) [9]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keypoints, at least 15 good matches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/ NON_MATCH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840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 spoofed input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gates (2 and 4) reject spoofs before any matching happens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663440" y="3840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4632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person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gates (3 and 5) reject impostors with genuine-looking samples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Used: Machine Learning vs Deep Learning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D6E6F7"/>
          </a:solidFill>
          <a:ln w="12700">
            <a:solidFill>
              <a:srgbClr val="D6E6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097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2 and 4: face and fingerprint PAD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trees, max depth 10 [8]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histogram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96-dim RGB. Fingerprint: 34-dim grayscale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genuine or spoof with probability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fast, small features, easy to explain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46120" y="10058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DCF3EC"/>
          </a:solidFill>
          <a:ln w="12700">
            <a:solidFill>
              <a:srgbClr val="DCF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10712" y="1097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FaceNet CNN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3: face verification via DeepFace [2,3]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410712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trained with triplet loss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 embedding for each face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distance = same person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 pretrained FairFace-based CNN labels gender of face images [10]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10058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99632" y="1097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VISION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 + BFMatcher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5: fingerprint matching [9]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99632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keypoints + binary descriptors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distance matching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15 good matches = MATCH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learned: a baseline, not minutiae / AFIS matching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(SHA-256) is hashing, not a learned model. CNN-based PAD in place of Random Forest is future work.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 and Results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Credential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Credential +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1,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Credential + face + fingerprint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1, 3,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Full Identity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1 to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2834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attack scenarios run on all four configurations.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shown: unauthorized acceptance rate (UAR). FAR, FRR, processing time and confusion matrices are still to be added.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scope: synthetic identities only, no real Aadhaar records, no UIDAI API, controlled research-only attack simulation [7].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0" y="9601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 falls from 100.0% (credential only) to 9.0% (full system) on a sampled run of the attack set.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Attack Detection by Category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0" y="1005840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attacks: 100% detected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attacks: 98%. Cross-modal attacks: 96%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is the weakest at 84%, in line with the histogram PAD and ORB baselines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simulation run: confirm on the full attack set before final claims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Baseline vs Identity Shield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188720"/>
          <a:ext cx="4480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+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Shield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face (photo / GAN)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20624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from system design. ✓ = detected and blocked. The baseline has no presentation-attack detection.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the Aadhaar 2024 survey’s threats into a working 5-gate defense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credential hashing, presentation-attack detection and 1:1 matching for face and fingerprint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is a hard stop and every attempt is logged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 to end on synthetic identities built from SOCOFing and a large face dataset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37760" y="105156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DDE9F7"/>
          </a:solidFill>
          <a:ln w="12700">
            <a:solidFill>
              <a:srgbClr val="DDE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1208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6916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pairings are not validated identity ground truth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Static-image PAD is not physical liveness: add video or challenge-response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is a baseline: move to minutiae-based matching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IDs only: no UIDAI integration or real Aadhaar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measured accuracy, FAR and FRR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PAD and a larger validated dataset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9771755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"/>
            <a:ext cx="1645920" cy="423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Sadhya, T. Sahu, "A Critical Survey of the Security and Privacy Aspects of the Aadhaar Framework," Computers &amp; Security, vol. 140, art. 103782, 2024. doi:10.1016/j.cose.2024.103782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Taigman, M. Yang, M. Ranzato, L. Wolf, "DeepFace: Closing the Gap to Human-Level Performance in Face Verification," CVPR, 2014. openaccess.thecvf.com/content_cvpr_2014/html/Taigman_DeepFace_Closing_the_2014_CVPR_paper.html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Schroff, D. Kalenichenko, J. Philbin, "FaceNet: A Unified Embedding for Face Recognition and Clustering," CVPR, 2015. openaccess.thecvf.com/content_cvpr_2015/html/Schroff_FaceNet_A_Unified_2015_CVPR_paper.html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I. Shehu, A. Ruiz-Garcia, V. Palade, A. James, "Sokoto Coventry Fingerprint Dataset (SOCOFing)," arXiv:1807.10609, 2018. kaggle.com/datasets/ruizgara/socofing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Gronczynski, "Biggest Gender/Face Recognition Dataset," Kaggle. kaggle.com/datasets/maciejgronczynski/biggest-genderface-recognition-dataset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LivDet: Fingerprint Liveness Detection Competition. livdet.org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UIDAI, Authentication FAQs (general concept only; no affiliation). uidai.gov.in/en/303-faqs/authentication.html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Breiman, "Random Forests," Machine Learning, vol. 45, no. 1, pp. 5-32, 2001. doi:10.1023/A:1010933404324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Rublee, V. Rabaud, K. Konolige, G. Bradski, "ORB: An Efficient Alternative to SIFT or SURF," ICCV, 2011.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Karkkainen, J. Joo, "FairFace: Face Attribute Dataset for Balanced Race, Gender and Age," WACV, 2021.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Shield</dc:title>
  <dc:subject>PptxGenJS Presentation</dc:subject>
  <dc:creator>PptxGenJS</dc:creator>
  <cp:lastModifiedBy>PptxGenJS</cp:lastModifiedBy>
  <cp:revision>1</cp:revision>
  <dcterms:created xsi:type="dcterms:W3CDTF">2026-09-21T08:28:17Z</dcterms:created>
  <dcterms:modified xsi:type="dcterms:W3CDTF">2026-09-21T08:28:17Z</dcterms:modified>
</cp:coreProperties>
</file>